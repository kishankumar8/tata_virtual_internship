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57" r:id="rId3"/>
    <p:sldId id="259" r:id="rId4"/>
    <p:sldId id="260" r:id="rId5"/>
    <p:sldId id="261" r:id="rId6"/>
    <p:sldId id="262" r:id="rId7"/>
  </p:sldIdLst>
  <p:sldSz cx="9144000" cy="5143500" type="screen16x9"/>
  <p:notesSz cx="6858000" cy="9144000"/>
  <p:embeddedFontLst>
    <p:embeddedFont>
      <p:font typeface="Roboto" panose="02000000000000000000" pitchFamily="2" charset="0"/>
      <p:regular r:id="rId9"/>
      <p:bold r:id="rId10"/>
      <p:italic r:id="rId11"/>
      <p:boldItalic r:id="rId12"/>
    </p:embeddedFont>
    <p:embeddedFont>
      <p:font typeface="Roboto Slab" pitchFamily="2" charset="0"/>
      <p:regular r:id="rId13"/>
      <p:bold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E584E98-F22C-4E6F-8C55-6CFEC2229C57}">
  <a:tblStyle styleId="{2E584E98-F22C-4E6F-8C55-6CFEC2229C5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1408"/>
  </p:normalViewPr>
  <p:slideViewPr>
    <p:cSldViewPr snapToGrid="0">
      <p:cViewPr varScale="1">
        <p:scale>
          <a:sx n="132" d="100"/>
          <a:sy n="132" d="100"/>
        </p:scale>
        <p:origin x="944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516fb96bf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516fb96bf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Generate a simple outline for an AI collections system workflow, including inputs, decision logic, action triggers, and learning loop.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List 3–5 key customer attributes that would be most predictive for collections decision-making, and explain why each one matters.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examples of business rules and AI-driven actions the system could use at different risk levels (e.g., low, medium, high risk).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Create a rough sketch or step-by-step description of how customer data flows through the system from intake to action.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516fb96bfd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516fb96bfd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Explain how agentic AI could automate financial collections while keeping humans in critical decision points.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List 3–5 examples of collection actions, and classify each as best suited for full automation or requiring human oversight, with a brief reason why.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516fb96bfd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516fb96bfd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List key fairness, transparency, and compliance practices to build into an AI-powered credit collections system.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specific ways to monitor and audit the system over time to ensure it stays fair, compliant, and effective.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516fb96bfd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516fb96bfd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b="1" dirty="0"/>
              <a:t>Prompts to try: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Suggest KPIs for an AI-powered collections strategy that balances business outcomes with customer fairness.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Describe 2–3 ways an AI collections system could improve both operational efficiency and customer experience.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2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6" name="Google Shape;36;p7"/>
          <p:cNvSpPr txBox="1">
            <a:spLocks noGrp="1"/>
          </p:cNvSpPr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body" idx="1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>
            <a:spLocks noGrp="1"/>
          </p:cNvSpPr>
          <p:nvPr>
            <p:ph type="body" idx="1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>
            <a:endParaRPr/>
          </a:p>
        </p:txBody>
      </p:sp>
      <p:sp>
        <p:nvSpPr>
          <p:cNvPr id="51" name="Google Shape;51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1"/>
          <p:cNvSpPr txBox="1">
            <a:spLocks noGrp="1"/>
          </p:cNvSpPr>
          <p:nvPr>
            <p:ph type="title" hasCustomPrompt="1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>
            <a:spLocks noGrp="1"/>
          </p:cNvSpPr>
          <p:nvPr>
            <p:ph type="body" idx="1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rina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>
            <a:spLocks noGrp="1"/>
          </p:cNvSpPr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 dirty="0"/>
              <a:t>AI-Powered Collections Strategy</a:t>
            </a:r>
            <a:endParaRPr sz="3000" dirty="0"/>
          </a:p>
        </p:txBody>
      </p:sp>
      <p:sp>
        <p:nvSpPr>
          <p:cNvPr id="64" name="Google Shape;64;p13"/>
          <p:cNvSpPr txBox="1">
            <a:spLocks noGrp="1"/>
          </p:cNvSpPr>
          <p:nvPr>
            <p:ph type="subTitle" idx="1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Leveraging Agentic AI for Scalable, Fair, and Effective Debt Management at Geldium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the System Works</a:t>
            </a:r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sz="1600" b="1" dirty="0"/>
              <a:t>Inputs</a:t>
            </a:r>
            <a:r>
              <a:rPr lang="en-GB" sz="1600" dirty="0"/>
              <a:t>: Credit score, credit utilization, missed payments, debt-to-income ratio, loan balance, employment status, account tenure, and the last 6 months of payment status (on-time / late / missed).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b="1" dirty="0"/>
              <a:t>Decision Logic</a:t>
            </a:r>
            <a:r>
              <a:rPr lang="en-GB" sz="1600" dirty="0"/>
              <a:t>: A Logistic Regression model outputs a delinquency-risk probability for each customer, which is combined with business rules to sort customers into Low / Medium / High risk tiers.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b="1" dirty="0"/>
              <a:t>Actions</a:t>
            </a:r>
            <a:r>
              <a:rPr lang="en-GB" sz="1600" dirty="0"/>
              <a:t>: Low risk gets automated reminders; medium risk gets personalized nudges or flexible repayment offers; high risk is escalated to a human agent for a hardship conversation.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b="1" dirty="0"/>
              <a:t>Learning</a:t>
            </a:r>
            <a:r>
              <a:rPr lang="en-GB" sz="1600" dirty="0"/>
              <a:t>: Actual repayment outcomes are fed back monthly to retrain the model and recalibrate risk thresholds, improving accuracy over time.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Role of Agentic AI</a:t>
            </a:r>
            <a:endParaRPr/>
          </a:p>
        </p:txBody>
      </p:sp>
      <p:sp>
        <p:nvSpPr>
          <p:cNvPr id="82" name="Google Shape;82;p16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>
              <a:buNone/>
            </a:pPr>
            <a:r>
              <a:rPr lang="en-GB" dirty="0"/>
              <a:t>The system pairs autonomous execution for routine, low-risk actions with mandatory human review for anything that materially affects a customer's finances: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Fully automated: </a:t>
            </a:r>
            <a:r>
              <a:rPr lang="en-GB" dirty="0"/>
              <a:t>Sending payment reminders (email/SMS), generating nightly risk scores, and routing low-risk customers to a standard reminder sequence.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Human-reviewed: </a:t>
            </a:r>
            <a:r>
              <a:rPr lang="en-GB" dirty="0"/>
              <a:t>Offering personalized hardship plans, restructuring a loan, adjusting a credit limit, or any action for customers flagged as high-risk.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Responsible AI Guardrails</a:t>
            </a:r>
            <a:endParaRPr/>
          </a:p>
        </p:txBody>
      </p:sp>
      <p:sp>
        <p:nvSpPr>
          <p:cNvPr id="89" name="Google Shape;89;p17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sz="1600" dirty="0"/>
              <a:t>Key safeguards built into the system to ensure it operates fairly and responsibly: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b="1" dirty="0"/>
              <a:t>Fairness checks: </a:t>
            </a:r>
            <a:r>
              <a:rPr lang="en-GB" sz="1600" dirty="0"/>
              <a:t>Regularly test model outcomes across segments such as employment status and location to catch and correct any disparate impact.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b="1" dirty="0"/>
              <a:t>Explainability: </a:t>
            </a:r>
            <a:r>
              <a:rPr lang="en-GB" sz="1600" dirty="0"/>
              <a:t>Logistic Regression keeps every risk score traceable to specific factors, so any flagged decision can be clearly explained.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b="1" dirty="0"/>
              <a:t>Regulatory compliance: </a:t>
            </a:r>
            <a:r>
              <a:rPr lang="en-GB" sz="1600" dirty="0"/>
              <a:t>Aligned with ECOA and GDPR - protected characteristics are excluded from decisions, and full audit trails are maintained.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b="1" dirty="0"/>
              <a:t>Human-in-the-loop: </a:t>
            </a:r>
            <a:r>
              <a:rPr lang="en-GB" sz="1600" dirty="0"/>
              <a:t>Any action affecting credit terms or legal standing requires sign-off from a human collections agent.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Expected Business Impact</a:t>
            </a:r>
            <a:endParaRPr/>
          </a:p>
        </p:txBody>
      </p:sp>
      <p:sp>
        <p:nvSpPr>
          <p:cNvPr id="95" name="Google Shape;95;p18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GB" sz="1600" dirty="0"/>
              <a:t>This system would benefit </a:t>
            </a:r>
            <a:r>
              <a:rPr lang="en-GB" sz="1600" dirty="0" err="1"/>
              <a:t>Geldium’s</a:t>
            </a:r>
            <a:r>
              <a:rPr lang="en-GB" sz="1600" dirty="0"/>
              <a:t> collections strategy across both business and customer outcomes: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b="1" dirty="0"/>
              <a:t>Quantitative outcomes: </a:t>
            </a:r>
            <a:r>
              <a:rPr lang="en-GB" sz="1600" dirty="0"/>
              <a:t>The 86%-accurate risk model surfaces the ~16% of customers likely to become delinquent, enabling earlier outreach, higher repayment rates, and lower collections cost per recovered dollar.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b="1" dirty="0"/>
              <a:t>Qualitative outcomes: </a:t>
            </a:r>
            <a:r>
              <a:rPr lang="en-GB" sz="1600" dirty="0"/>
              <a:t>Supportive, early contact (instead of after-the-fact collections) improves customer trust; consistent, explainable risk scoring improves fairness; and automation lets the team scale outreach without adding headcount.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C1373-ECCB-8893-C88B-952E49559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Takeaways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259607-54F3-CE30-20BB-21D4536BE7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An 86%-accurate Logistic Regression model turns raw customer data into a clear, explainable delinquency-risk score.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Agentic AI automates routine, low-risk outreach while keeping humans in control of any high-stakes or high-risk decision.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Fairness checks, explainability, and regulatory compliance are built in from day one, not bolted on afterward.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Next step: pilot the system on a sample of flagged customers and measure impact on delinquency and repayment rates.</a:t>
            </a:r>
          </a:p>
        </p:txBody>
      </p:sp>
    </p:spTree>
    <p:extLst>
      <p:ext uri="{BB962C8B-B14F-4D97-AF65-F5344CB8AC3E}">
        <p14:creationId xmlns:p14="http://schemas.microsoft.com/office/powerpoint/2010/main" val="890219242"/>
      </p:ext>
    </p:extLst>
  </p:cSld>
  <p:clrMapOvr>
    <a:masterClrMapping/>
  </p:clrMapOvr>
</p:sld>
</file>

<file path=ppt/theme/theme1.xml><?xml version="1.0" encoding="utf-8"?>
<a:theme xmlns:a="http://schemas.openxmlformats.org/drawingml/2006/main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473</Words>
  <Application>Microsoft Macintosh PowerPoint</Application>
  <PresentationFormat>On-screen Show (16:9)</PresentationFormat>
  <Paragraphs>36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Roboto Slab</vt:lpstr>
      <vt:lpstr>Roboto</vt:lpstr>
      <vt:lpstr>Marina</vt:lpstr>
      <vt:lpstr>AI-Powered Collections Strategy</vt:lpstr>
      <vt:lpstr>How the System Works</vt:lpstr>
      <vt:lpstr>Role of Agentic AI</vt:lpstr>
      <vt:lpstr>Responsible AI Guardrails</vt:lpstr>
      <vt:lpstr>Expected Business Impact</vt:lpstr>
      <vt:lpstr>[Feel free to add more slides throughout]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Tran, Tammy</cp:lastModifiedBy>
  <cp:revision>2</cp:revision>
  <dcterms:modified xsi:type="dcterms:W3CDTF">2025-04-29T13:27:36Z</dcterms:modified>
</cp:coreProperties>
</file>